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Noto Serif Display" panose="020B0604020202020204" charset="0"/>
      <p:regular r:id="rId19"/>
    </p:embeddedFont>
    <p:embeddedFont>
      <p:font typeface="Red Hat Text" panose="020B0604020202020204" charset="0"/>
      <p:regular r:id="rId20"/>
    </p:embeddedFont>
    <p:embeddedFont>
      <p:font typeface="Red Hat Text Bold" panose="020B0604020202020204" charset="0"/>
      <p:regular r:id="rId21"/>
    </p:embeddedFont>
    <p:embeddedFont>
      <p:font typeface="Red Hat Text Medium" panose="020B0604020202020204" charset="0"/>
      <p:regular r:id="rId22"/>
    </p:embeddedFont>
    <p:embeddedFont>
      <p:font typeface="Red Hat Text Semi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2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22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3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6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1" y="552042"/>
            <a:ext cx="10659043" cy="895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000" kern="100" spc="-90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IoT-Based Smart Urban Heat Island Monitoring and Mitigation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91" y="1798806"/>
            <a:ext cx="7630604" cy="1199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Literature review, comparative analysis, and proposed solution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Focus: urban heat monitoring, hotspot identification, and mitigation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Research basis: 12 studies covering India and international case studies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B77C04-5EFE-48F0-8D81-D1C9E6592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263588"/>
            <a:ext cx="1280271" cy="594412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D606C358-54D5-416A-972F-709312D37E9C}"/>
              </a:ext>
            </a:extLst>
          </p:cNvPr>
          <p:cNvSpPr/>
          <p:nvPr/>
        </p:nvSpPr>
        <p:spPr>
          <a:xfrm>
            <a:off x="385476" y="3472209"/>
            <a:ext cx="4984377" cy="2655573"/>
          </a:xfrm>
          <a:prstGeom prst="roundRect">
            <a:avLst>
              <a:gd name="adj" fmla="val 15116"/>
            </a:avLst>
          </a:prstGeom>
          <a:noFill/>
          <a:ln w="25399">
            <a:solidFill>
              <a:srgbClr val="357C79"/>
            </a:solidFill>
            <a:prstDash val="solid"/>
          </a:ln>
        </p:spPr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CC92631-6665-42F9-A8EB-58D05E69E584}"/>
              </a:ext>
            </a:extLst>
          </p:cNvPr>
          <p:cNvSpPr/>
          <p:nvPr/>
        </p:nvSpPr>
        <p:spPr>
          <a:xfrm>
            <a:off x="817415" y="3812461"/>
            <a:ext cx="3942838" cy="2106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l">
              <a:lnSpc>
                <a:spcPct val="118000"/>
              </a:lnSpc>
              <a:buSzPct val="100000"/>
            </a:pPr>
            <a:r>
              <a:rPr lang="en-US" sz="20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Names: Bhagyashri Ahire(02), Ketaki Bhagat(18), Shweta Birle(23), Samruddhi Chavan(26).</a:t>
            </a:r>
            <a:br>
              <a:rPr lang="en-US" sz="20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</a:br>
            <a:br>
              <a:rPr lang="en-US" sz="20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</a:br>
            <a:r>
              <a:rPr lang="en-US" sz="20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Group No.: 02</a:t>
            </a:r>
            <a:br>
              <a:rPr lang="en-US" sz="20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</a:br>
            <a:br>
              <a:rPr lang="en-US" sz="20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</a:br>
            <a:r>
              <a:rPr lang="en-US" sz="20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Class: CSDS-A</a:t>
            </a:r>
          </a:p>
        </p:txBody>
      </p:sp>
      <p:pic>
        <p:nvPicPr>
          <p:cNvPr id="1026" name="Picture 2" descr="Urban Heat: Can IoT &amp; Smart Surfaces Cool Cities? | Digi International">
            <a:extLst>
              <a:ext uri="{FF2B5EF4-FFF2-40B4-BE49-F238E27FC236}">
                <a16:creationId xmlns:a16="http://schemas.microsoft.com/office/drawing/2014/main" id="{C0216854-65FA-4858-A46E-248C02510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059" y="3146480"/>
            <a:ext cx="6364941" cy="368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04791" y="347213"/>
            <a:ext cx="5333867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2000"/>
              </a:lnSpc>
            </a:pPr>
            <a:r>
              <a:rPr lang="en-US" sz="3800" kern="100" spc="-95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Introduction and background</a:t>
            </a:r>
          </a:p>
        </p:txBody>
      </p:sp>
      <p:sp>
        <p:nvSpPr>
          <p:cNvPr id="6" name="Text 3"/>
          <p:cNvSpPr/>
          <p:nvPr/>
        </p:nvSpPr>
        <p:spPr>
          <a:xfrm>
            <a:off x="304792" y="1172351"/>
            <a:ext cx="5333867" cy="4754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Urban Heat Islands (UHI) occur when urban areas become warmer than nearby less-developed areas.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Concrete, asphalt, rooftops, dense buildings, and limited greenery contribute to heat accumulation.</a:t>
            </a:r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Global warming raises the long-term baseline temperature, increasing concerns about extreme heat.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 Niño is a natural ocean–atmosphere climate pattern that can influence regional temperatures and rainfall.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53036" y="3549650"/>
            <a:ext cx="5333867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03413" y="5298142"/>
            <a:ext cx="5423350" cy="105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8" dirty="0">
                <a:solidFill>
                  <a:srgbClr val="B9C7CF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Key distinction: UHI is a local urban effect; global warming is long-term global warming; El Niño is a naturally recurring climate pattern. They can influence heat risk in different ways, but they are not the same phenomenon.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CC3C68-E693-488D-8D55-0C624AE3F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729" y="6246563"/>
            <a:ext cx="1280271" cy="594412"/>
          </a:xfrm>
          <a:prstGeom prst="rect">
            <a:avLst/>
          </a:prstGeom>
        </p:spPr>
      </p:pic>
      <p:pic>
        <p:nvPicPr>
          <p:cNvPr id="2050" name="Picture 2" descr="MetLink - Royal Meteorological Society Urban Heat Islands -">
            <a:extLst>
              <a:ext uri="{FF2B5EF4-FFF2-40B4-BE49-F238E27FC236}">
                <a16:creationId xmlns:a16="http://schemas.microsoft.com/office/drawing/2014/main" id="{DD823AF1-500B-451C-9A79-6F026DDEF1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1" r="2147"/>
          <a:stretch/>
        </p:blipFill>
        <p:spPr bwMode="auto">
          <a:xfrm>
            <a:off x="6069019" y="1506153"/>
            <a:ext cx="5817884" cy="334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68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131026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04792" y="1759478"/>
            <a:ext cx="11582110" cy="793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The problem: Urban heat is unevenly distributed, but understanding exactly where, when, and why dangerous hotspots develop remains challenging.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4792" y="2755205"/>
            <a:ext cx="2666933" cy="3039170"/>
          </a:xfrm>
          <a:prstGeom prst="roundRect">
            <a:avLst>
              <a:gd name="adj" fmla="val 429"/>
            </a:avLst>
          </a:prstGeom>
          <a:noFill/>
          <a:ln w="25399">
            <a:solidFill>
              <a:srgbClr val="357C7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3009205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8786" y="3585436"/>
            <a:ext cx="2158946" cy="1397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Some neighbourhoods have more heat-absorbing surfaces and less vegetation than others.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3276518" y="2755205"/>
            <a:ext cx="2666933" cy="3039170"/>
          </a:xfrm>
          <a:prstGeom prst="roundRect">
            <a:avLst>
              <a:gd name="adj" fmla="val 429"/>
            </a:avLst>
          </a:prstGeom>
          <a:noFill/>
          <a:ln w="25399">
            <a:solidFill>
              <a:srgbClr val="357C7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512" y="3009205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0512" y="3585436"/>
            <a:ext cx="2158946" cy="1397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Satellite-based studies provide valuable spatial information but may not provide continuous, real-time local readings.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248244" y="2755205"/>
            <a:ext cx="2666933" cy="3039170"/>
          </a:xfrm>
          <a:prstGeom prst="roundRect">
            <a:avLst>
              <a:gd name="adj" fmla="val 429"/>
            </a:avLst>
          </a:prstGeom>
          <a:noFill/>
          <a:ln w="25399">
            <a:solidFill>
              <a:srgbClr val="357C79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237" y="3009205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02237" y="3585436"/>
            <a:ext cx="2158946" cy="1397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Heat measurements from different locations, seasons, and methods are difficult to compare directly.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9219969" y="2755205"/>
            <a:ext cx="2666933" cy="3039170"/>
          </a:xfrm>
          <a:prstGeom prst="roundRect">
            <a:avLst>
              <a:gd name="adj" fmla="val 429"/>
            </a:avLst>
          </a:prstGeom>
          <a:noFill/>
          <a:ln w="25399">
            <a:solidFill>
              <a:srgbClr val="357C79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963" y="3009205"/>
            <a:ext cx="444489" cy="444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73963" y="3585436"/>
            <a:ext cx="2158946" cy="1956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Mitigation measures may be proposed without enough continuous before-and-after monitoring to measure their effectiveness.</a:t>
            </a:r>
            <a:endParaRPr lang="en-US" sz="15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F0D19D-2DEB-4AC1-819E-F88EC34E77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1729" y="6263588"/>
            <a:ext cx="1280271" cy="594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015" y="418625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Research objectives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015" y="1060083"/>
            <a:ext cx="2895528" cy="38100"/>
          </a:xfrm>
          <a:prstGeom prst="roundRect">
            <a:avLst>
              <a:gd name="adj" fmla="val 49999"/>
            </a:avLst>
          </a:prstGeom>
          <a:solidFill>
            <a:srgbClr val="1F6E6A"/>
          </a:solidFill>
          <a:ln/>
        </p:spPr>
      </p:sp>
      <p:sp>
        <p:nvSpPr>
          <p:cNvPr id="4" name="Text 2"/>
          <p:cNvSpPr/>
          <p:nvPr/>
        </p:nvSpPr>
        <p:spPr>
          <a:xfrm>
            <a:off x="439189" y="1568824"/>
            <a:ext cx="5136857" cy="4885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Review existing research on UHI mapping, prediction, risk assessment, and mitigation.</a:t>
            </a:r>
            <a:endParaRPr lang="en-US" sz="1750" dirty="0"/>
          </a:p>
          <a:p>
            <a:pPr marL="355600" indent="-355600" algn="l">
              <a:lnSpc>
                <a:spcPct val="15000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Compare the data, methods, results, and limitations of 12 selected research papers.</a:t>
            </a:r>
            <a:endParaRPr lang="en-US" sz="1750" dirty="0"/>
          </a:p>
          <a:p>
            <a:pPr marL="355600" indent="-355600" algn="l">
              <a:lnSpc>
                <a:spcPct val="15000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Identify the research gaps that matter for real-time urban heat monitoring.</a:t>
            </a:r>
            <a:endParaRPr lang="en-US" sz="1750" dirty="0"/>
          </a:p>
          <a:p>
            <a:pPr marL="355600" indent="-355600" algn="l">
              <a:lnSpc>
                <a:spcPct val="15000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Propose an IoT-based architecture for collecting and analysing environmental data.</a:t>
            </a:r>
            <a:endParaRPr lang="en-US" sz="1750" dirty="0"/>
          </a:p>
          <a:p>
            <a:pPr marL="355600" indent="-355600" algn="l">
              <a:lnSpc>
                <a:spcPct val="15000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Explore how the system could help prioritise cooling interventions and evaluate their results.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5F60A2-8F54-4837-9400-DED3E6497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729" y="6266700"/>
            <a:ext cx="1280271" cy="594412"/>
          </a:xfrm>
          <a:prstGeom prst="rect">
            <a:avLst/>
          </a:prstGeom>
        </p:spPr>
      </p:pic>
      <p:pic>
        <p:nvPicPr>
          <p:cNvPr id="1026" name="Picture 2" descr="Urban Heat Island Effect - Icograms Template">
            <a:extLst>
              <a:ext uri="{FF2B5EF4-FFF2-40B4-BE49-F238E27FC236}">
                <a16:creationId xmlns:a16="http://schemas.microsoft.com/office/drawing/2014/main" id="{D9BA1F96-C210-4A81-8D12-944EA95FEF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" t="5667" r="2207" b="6296"/>
          <a:stretch/>
        </p:blipFill>
        <p:spPr bwMode="auto">
          <a:xfrm>
            <a:off x="5796372" y="1658471"/>
            <a:ext cx="6216333" cy="364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76AA9CB-E899-4C62-B32A-10C569B95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611" y="6277051"/>
            <a:ext cx="1280271" cy="5242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04792" y="209817"/>
            <a:ext cx="1188690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105" dirty="0">
                <a:solidFill>
                  <a:srgbClr val="2D9F99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LITERATURE TAXONOMY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421351"/>
            <a:ext cx="11582110" cy="283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2800" kern="100" spc="-57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Related work / literature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04792" y="828572"/>
            <a:ext cx="11886903" cy="134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Organise the 12 papers into four research themes rather than reading out all 12 titles.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4791" y="1043113"/>
            <a:ext cx="5380181" cy="2832887"/>
          </a:xfrm>
          <a:prstGeom prst="roundRect">
            <a:avLst>
              <a:gd name="adj" fmla="val 281"/>
            </a:avLst>
          </a:prstGeom>
          <a:solidFill>
            <a:srgbClr val="1C636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05" y="1203226"/>
            <a:ext cx="3614311" cy="20330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2399" y="3501057"/>
            <a:ext cx="528306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100" spc="-13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1. Remote sensing and UHI mapping: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153824" y="1168327"/>
            <a:ext cx="1531148" cy="268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endParaRPr lang="en-US" sz="1200" dirty="0">
              <a:solidFill>
                <a:srgbClr val="EDEFE8"/>
              </a:solidFill>
              <a:latin typeface="Red Hat Text" pitchFamily="34" charset="0"/>
              <a:ea typeface="Red Hat Text" pitchFamily="34" charset="-122"/>
              <a:cs typeface="Red Hat Text" pitchFamily="34" charset="-120"/>
            </a:endParaRPr>
          </a:p>
          <a:p>
            <a:pPr marL="0" indent="0" algn="l">
              <a:lnSpc>
                <a:spcPct val="95000"/>
              </a:lnSpc>
              <a:buNone/>
            </a:pPr>
            <a:r>
              <a:rPr lang="en-US" sz="12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Studies of Beijing, Chengdu, Bangalore, Thanjavur–Tiruchirappalli, and Makati use satellite imagery, land-surface temperature (LST), vegetation indices, or built-up-area indicators to map urban heat patterns.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840" y="1025426"/>
            <a:ext cx="5590256" cy="2832886"/>
          </a:xfrm>
          <a:prstGeom prst="roundRect">
            <a:avLst>
              <a:gd name="adj" fmla="val 281"/>
            </a:avLst>
          </a:prstGeom>
          <a:solidFill>
            <a:srgbClr val="1C636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039" y="1203226"/>
            <a:ext cx="3587537" cy="20179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99893" y="3505788"/>
            <a:ext cx="528306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100" spc="-13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2. Climate projections and heat-risk assessment: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272359" y="1203226"/>
            <a:ext cx="1436747" cy="2655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UAE warming assessment and Attica future heat-risk study investigate future heat conditions and the factors that may influence risk.</a:t>
            </a:r>
          </a:p>
        </p:txBody>
      </p:sp>
      <p:sp>
        <p:nvSpPr>
          <p:cNvPr id="13" name="Shape 9"/>
          <p:cNvSpPr/>
          <p:nvPr/>
        </p:nvSpPr>
        <p:spPr>
          <a:xfrm>
            <a:off x="304792" y="4022708"/>
            <a:ext cx="5380181" cy="2689985"/>
          </a:xfrm>
          <a:prstGeom prst="roundRect">
            <a:avLst>
              <a:gd name="adj" fmla="val 281"/>
            </a:avLst>
          </a:prstGeom>
          <a:solidFill>
            <a:srgbClr val="1C636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82" y="4172454"/>
            <a:ext cx="3614311" cy="20330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3623" y="6355233"/>
            <a:ext cx="528306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100" spc="-13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3. Mitigation and urban design: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222376" y="4123110"/>
            <a:ext cx="1462598" cy="2426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Studies of suburban India and hot-arid urban design examine surface treatments, vegetation, and other strategies to reduce heat.</a:t>
            </a:r>
          </a:p>
        </p:txBody>
      </p:sp>
      <p:sp>
        <p:nvSpPr>
          <p:cNvPr id="17" name="Shape 12"/>
          <p:cNvSpPr/>
          <p:nvPr/>
        </p:nvSpPr>
        <p:spPr>
          <a:xfrm>
            <a:off x="6199839" y="4010123"/>
            <a:ext cx="5590255" cy="2655087"/>
          </a:xfrm>
          <a:prstGeom prst="roundRect">
            <a:avLst>
              <a:gd name="adj" fmla="val 281"/>
            </a:avLst>
          </a:prstGeom>
          <a:solidFill>
            <a:srgbClr val="1C636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64" y="4109049"/>
            <a:ext cx="3639828" cy="20473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386" y="6302361"/>
            <a:ext cx="3639828" cy="10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100" spc="-13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4. IoT, prediction, and heat vulnerability: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0130117" y="4063223"/>
            <a:ext cx="1578989" cy="260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manhole heat study explores IoT-driven sensing with recurrent neural networks; the India temperature-anomaly study examines prediction and heatstroke risk; Zhengzhou investigates high-resolution thermal observations.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BA99E7-F785-47DF-8A50-C4F0BCE4B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729" y="6250772"/>
            <a:ext cx="1280271" cy="59441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04792" y="310022"/>
            <a:ext cx="11886903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100" spc="133" dirty="0">
                <a:solidFill>
                  <a:srgbClr val="2D9F99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SYSTEMATIC SYNTHESIS · 12 PAPERS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04792" y="559577"/>
            <a:ext cx="11582110" cy="35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2900" kern="100" spc="-72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Comparison of key papers and results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834587"/>
              </p:ext>
            </p:extLst>
          </p:nvPr>
        </p:nvGraphicFramePr>
        <p:xfrm>
          <a:off x="304792" y="980380"/>
          <a:ext cx="11582408" cy="5879966"/>
        </p:xfrm>
        <a:graphic>
          <a:graphicData uri="http://schemas.openxmlformats.org/drawingml/2006/table">
            <a:tbl>
              <a:tblPr/>
              <a:tblGrid>
                <a:gridCol w="2895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5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133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STUDY</a:t>
                      </a:r>
                      <a:endParaRPr lang="en-US" sz="9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133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MAIN APPROACH</a:t>
                      </a:r>
                      <a:endParaRPr lang="en-US" sz="9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133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REPORTED FINDING</a:t>
                      </a:r>
                      <a:endParaRPr lang="en-US" sz="9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UAE warming assessment (2022)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Weather stations and climate-model scenarios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Projected warming across future periods, with larger increases under RCP8.5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Thanjavur–Tiruchirappalli (2025)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MODIS LST, 2012–2022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Tiruchirappalli consistently showed higher UHI intensity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Beijing (2019)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Summer LST, 2005–2015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UHI patterns expanded; urbanisation indicators were associated with LST at township scale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Attica, Greece (2024)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Future Heat Risk Index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Examined future heat risk using climate scenarios, population, and tree-canopy information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Suburban India mitigation (2022)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ENVI-met simulation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Evaluated local-scale surface-heat mitigation options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Zhengzhou (2025)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Low-altitude thermal and hyperspectral sensing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Produced high-resolution surface-temperature analysis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IoT manhole heat (2024)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IoT sensing and RNN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Investigated heat monitoring and forecasting; exact performance should be checked in the paper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India temperature anomalies (2025)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Regression and time-series methods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Compared predictive approaches and examined links to heatstroke deaths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3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Hot-arid urban design (2024)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ENVI-met and walkway treatments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All three treatments lowered temperature versus the baseline; overall differences between treatments were not statistically significant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Chengdu (2022)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Land-cover analysis and WRF simulation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Urban expansion and UHI expansion increased together over the study period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3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Makati (2025)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Landsat, vegetation/built-up indices, vulnerability and field validation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Identified spatial differences in surface heat and heat vulnerability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Bangalore (2021)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Landsat LST, NDVI and NDBI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Built-up surfaces related positively to LST; vegetation related negatively, more strongly in March than November</a:t>
                      </a:r>
                      <a:endParaRPr lang="en-US" sz="12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26469" marR="126469" marT="67450" marB="67450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72301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Comparison and research loopholes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04792" y="1001482"/>
            <a:ext cx="11886903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literature reveals several opportunities for further work.</a:t>
            </a:r>
            <a:endParaRPr lang="en-US" sz="15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792" y="1479451"/>
          <a:ext cx="11582111" cy="5152600"/>
        </p:xfrm>
        <a:graphic>
          <a:graphicData uri="http://schemas.openxmlformats.org/drawingml/2006/table">
            <a:tbl>
              <a:tblPr/>
              <a:tblGrid>
                <a:gridCol w="301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1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9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kern="100" spc="175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RESEARCH GAP</a:t>
                      </a:r>
                      <a:endParaRPr lang="en-US" sz="12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kern="100" spc="175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WHY IT MATTERS</a:t>
                      </a:r>
                      <a:endParaRPr lang="en-US" sz="12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kern="100" spc="175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PROPOSED DIRECTION</a:t>
                      </a:r>
                      <a:endParaRPr lang="en-US" sz="12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Limited continuous local monitoring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Satellite observations and periodic surveys may miss short-term changes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Combine IoT readings with satellite-derived heat maps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Different temperature measurements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Surface temperature, air temperature, and subsurface temperature measure different things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Clearly label and analyse each measurement separately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Limited mitigation validation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 proposed cooling strategy may not perform equally well everywhere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Compare conditions before and after interventions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Separate analysis of heat and vulnerability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 hot location is not necessarily the location with the greatest human vulnerability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Combine heat data with population and vulnerability indicators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Limited integration of monitoring and action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Identifying hotspots does not automatically lead to mitigation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Link alerts to prioritised, locally suitable interventions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6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b="1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Climate-context integration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Local heat, long-term warming, and El Niño operate at different scales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EDEFE8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Examine local sensor data alongside relevant climate information</a:t>
                      </a:r>
                      <a:endParaRPr lang="en-US" sz="155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6683" marR="166683" marT="88898" marB="88898" anchor="ctr">
                    <a:lnL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6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64EC460-56E7-46CD-81AA-928266818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221876"/>
            <a:ext cx="1280271" cy="594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554732"/>
            <a:ext cx="380990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175" dirty="0">
                <a:solidFill>
                  <a:srgbClr val="8FD3C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ARCHITECTURE BLUEPRINT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04792" y="902029"/>
            <a:ext cx="3809905" cy="1418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Research area and proposed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8293" y="2476963"/>
            <a:ext cx="3382390" cy="1371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Research area:</a:t>
            </a: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IoT-based environmental monitoring, urban heat-risk analysis, and data-driven mitigation.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267093" y="547191"/>
            <a:ext cx="7619809" cy="948134"/>
          </a:xfrm>
          <a:prstGeom prst="roundRect">
            <a:avLst>
              <a:gd name="adj" fmla="val 1205"/>
            </a:avLst>
          </a:prstGeom>
          <a:solidFill>
            <a:srgbClr val="1C636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88" y="648779"/>
            <a:ext cx="444489" cy="44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37021" y="666488"/>
            <a:ext cx="654668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1. Environmental data collection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137021" y="1115782"/>
            <a:ext cx="67498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Air temperature, humidity, surface temperature, and location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267093" y="1647726"/>
            <a:ext cx="7619809" cy="948134"/>
          </a:xfrm>
          <a:prstGeom prst="roundRect">
            <a:avLst>
              <a:gd name="adj" fmla="val 1205"/>
            </a:avLst>
          </a:prstGeom>
          <a:solidFill>
            <a:srgbClr val="1C636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288" y="1749314"/>
            <a:ext cx="444489" cy="444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37021" y="1767022"/>
            <a:ext cx="654668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2. IoT sensors and communication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137021" y="2216317"/>
            <a:ext cx="67498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Sensor nodes → Wi-Fi / LoRaWAN → gateway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4267093" y="2748260"/>
            <a:ext cx="7619809" cy="948134"/>
          </a:xfrm>
          <a:prstGeom prst="roundRect">
            <a:avLst>
              <a:gd name="adj" fmla="val 1205"/>
            </a:avLst>
          </a:prstGeom>
          <a:solidFill>
            <a:srgbClr val="1C636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288" y="2849848"/>
            <a:ext cx="444489" cy="444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7021" y="2867557"/>
            <a:ext cx="654668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3. Local or server-side analysis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5137021" y="3316851"/>
            <a:ext cx="67498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 validation, hotspot detection, trends, and risk indicators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4267093" y="3848795"/>
            <a:ext cx="7619809" cy="948134"/>
          </a:xfrm>
          <a:prstGeom prst="roundRect">
            <a:avLst>
              <a:gd name="adj" fmla="val 1205"/>
            </a:avLst>
          </a:prstGeom>
          <a:solidFill>
            <a:srgbClr val="1C636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0288" y="3950383"/>
            <a:ext cx="444489" cy="4445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37021" y="3968091"/>
            <a:ext cx="654668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4. Dashboard and heat map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5137021" y="4417385"/>
            <a:ext cx="67498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Visualise hotspots, trends, alerts, and priority locations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4267093" y="4949329"/>
            <a:ext cx="7619809" cy="948134"/>
          </a:xfrm>
          <a:prstGeom prst="roundRect">
            <a:avLst>
              <a:gd name="adj" fmla="val 1205"/>
            </a:avLst>
          </a:prstGeom>
          <a:solidFill>
            <a:srgbClr val="1C636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288" y="5050917"/>
            <a:ext cx="444489" cy="4445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37021" y="5068625"/>
            <a:ext cx="6546686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5. Mitigation and evaluation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5137021" y="5517920"/>
            <a:ext cx="67498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Support decisions on trees, cool roofs, reflective materials, and irrigation</a:t>
            </a:r>
            <a:endParaRPr lang="en-US" sz="15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C6BBDD5-E047-4754-86E6-30D52C5236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1424" y="6204148"/>
            <a:ext cx="1280271" cy="594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458589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8FD3C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VALUE PROPOSITION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805887"/>
            <a:ext cx="11582110" cy="47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800" kern="100" spc="-95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Why IoT is important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04792" y="1389063"/>
            <a:ext cx="3708307" cy="1710333"/>
          </a:xfrm>
          <a:prstGeom prst="roundRect">
            <a:avLst>
              <a:gd name="adj" fmla="val 668"/>
            </a:avLst>
          </a:prstGeom>
          <a:solidFill>
            <a:srgbClr val="16304A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1609959"/>
            <a:ext cx="3301917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Continuous monitoring: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7987" y="2059253"/>
            <a:ext cx="3301917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Collects readings at regular intervals rather than relying only on occasional surveys.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17892" y="1389063"/>
            <a:ext cx="3555911" cy="1710333"/>
          </a:xfrm>
          <a:prstGeom prst="roundRect">
            <a:avLst>
              <a:gd name="adj" fmla="val 668"/>
            </a:avLst>
          </a:prstGeom>
          <a:solidFill>
            <a:srgbClr val="16304A"/>
          </a:solidFill>
          <a:ln/>
        </p:spPr>
      </p:sp>
      <p:sp>
        <p:nvSpPr>
          <p:cNvPr id="8" name="Text 6"/>
          <p:cNvSpPr/>
          <p:nvPr/>
        </p:nvSpPr>
        <p:spPr>
          <a:xfrm>
            <a:off x="4521087" y="1609959"/>
            <a:ext cx="3149521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Localised information: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21087" y="2059253"/>
            <a:ext cx="3149521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Sensors placed at selected sites help reveal differences between neighbourhoods.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178595" y="1389063"/>
            <a:ext cx="3708307" cy="1710333"/>
          </a:xfrm>
          <a:prstGeom prst="roundRect">
            <a:avLst>
              <a:gd name="adj" fmla="val 668"/>
            </a:avLst>
          </a:prstGeom>
          <a:solidFill>
            <a:srgbClr val="16304A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0" y="1609959"/>
            <a:ext cx="3301917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Early alerts: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1790" y="2059253"/>
            <a:ext cx="3301917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Threshold-based alerts can flag unusual heat conditions.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04792" y="3404195"/>
            <a:ext cx="3708307" cy="1710333"/>
          </a:xfrm>
          <a:prstGeom prst="roundRect">
            <a:avLst>
              <a:gd name="adj" fmla="val 668"/>
            </a:avLst>
          </a:prstGeom>
          <a:solidFill>
            <a:srgbClr val="1630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7987" y="3625092"/>
            <a:ext cx="3301917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Data integration: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07987" y="4074386"/>
            <a:ext cx="3301917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Sensor readings can be combined with satellite maps, vegetation data, and weather information.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17892" y="3404195"/>
            <a:ext cx="3555911" cy="1710333"/>
          </a:xfrm>
          <a:prstGeom prst="roundRect">
            <a:avLst>
              <a:gd name="adj" fmla="val 668"/>
            </a:avLst>
          </a:prstGeom>
          <a:solidFill>
            <a:srgbClr val="1630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21087" y="3625092"/>
            <a:ext cx="3149521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Mitigation evaluation: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21087" y="4074386"/>
            <a:ext cx="3149521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Repeated measurements can help assess whether an intervention improves local conditions.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178595" y="3404195"/>
            <a:ext cx="3708307" cy="1710333"/>
          </a:xfrm>
          <a:prstGeom prst="roundRect">
            <a:avLst>
              <a:gd name="adj" fmla="val 668"/>
            </a:avLst>
          </a:prstGeom>
          <a:solidFill>
            <a:srgbClr val="16304A"/>
          </a:solidFill>
          <a:ln/>
        </p:spPr>
      </p:sp>
      <p:sp>
        <p:nvSpPr>
          <p:cNvPr id="20" name="Text 18"/>
          <p:cNvSpPr/>
          <p:nvPr/>
        </p:nvSpPr>
        <p:spPr>
          <a:xfrm>
            <a:off x="8381790" y="3625092"/>
            <a:ext cx="3301917" cy="306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kern="100" spc="-21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Scalability: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81790" y="4074386"/>
            <a:ext cx="3301917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More sensor nodes can be added as the monitoring area grows.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304792" y="5292328"/>
            <a:ext cx="11582110" cy="1114623"/>
          </a:xfrm>
          <a:prstGeom prst="roundRect">
            <a:avLst>
              <a:gd name="adj" fmla="val 1025"/>
            </a:avLst>
          </a:prstGeom>
          <a:solidFill>
            <a:srgbClr val="1C6360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37" y="5624116"/>
            <a:ext cx="222244" cy="177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71526" y="5571696"/>
            <a:ext cx="10693132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IoT does not replace satellite remote sensing. The two approaches can complement each other: satellites provide broader spatial coverage, while ground sensors provide local measurements over time.</a:t>
            </a:r>
            <a:endParaRPr lang="en-US" sz="15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931008F-BBB2-45DC-98E8-7187438EC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424" y="6406951"/>
            <a:ext cx="1280271" cy="427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470694"/>
            <a:ext cx="118869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8FD3C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DELIVERABLES &amp;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04792" y="812848"/>
            <a:ext cx="11582110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200" kern="100" spc="-80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Proposed problems overcome and expected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04792" y="1372560"/>
            <a:ext cx="11886903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Separate results already reported by researchers from the outcomes your proposed system aims to achieve.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304792" y="1850529"/>
            <a:ext cx="5562461" cy="4544219"/>
          </a:xfrm>
          <a:prstGeom prst="roundRect">
            <a:avLst>
              <a:gd name="adj" fmla="val 252"/>
            </a:avLst>
          </a:prstGeom>
          <a:noFill/>
          <a:ln w="25399">
            <a:solidFill>
              <a:srgbClr val="357C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189" y="1959670"/>
            <a:ext cx="541006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B9C7C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FOUNDATION EVIDENCE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189" y="2253572"/>
            <a:ext cx="525766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kern="100" spc="-20" dirty="0">
                <a:solidFill>
                  <a:srgbClr val="EDEFE8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What previous studies have demonstrated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189" y="2744291"/>
            <a:ext cx="1734896" cy="31651"/>
          </a:xfrm>
          <a:prstGeom prst="roundRect">
            <a:avLst>
              <a:gd name="adj" fmla="val 49998"/>
            </a:avLst>
          </a:prstGeom>
          <a:solidFill>
            <a:srgbClr val="4F6B80"/>
          </a:solidFill>
          <a:ln/>
        </p:spPr>
      </p:sp>
      <p:sp>
        <p:nvSpPr>
          <p:cNvPr id="9" name="Text 7"/>
          <p:cNvSpPr/>
          <p:nvPr/>
        </p:nvSpPr>
        <p:spPr>
          <a:xfrm>
            <a:off x="457189" y="2960191"/>
            <a:ext cx="5257668" cy="301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Urban expansion is associated with changing UHI patterns in studies such as Beijing and Chengdu.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Vegetation and built-up surfaces show different relationships with land-surface temperature.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Heat vulnerability can differ between neighbourhoods, as illustrated by the Makati study.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Simulated surface treatments can reduce temperature relative to an untreated baseline.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324442" y="1850529"/>
            <a:ext cx="5562461" cy="4544219"/>
          </a:xfrm>
          <a:prstGeom prst="roundRect">
            <a:avLst>
              <a:gd name="adj" fmla="val 252"/>
            </a:avLst>
          </a:prstGeom>
          <a:solidFill>
            <a:srgbClr val="16304A"/>
          </a:solidFill>
          <a:ln/>
        </p:spPr>
      </p:sp>
      <p:sp>
        <p:nvSpPr>
          <p:cNvPr id="11" name="Text 9"/>
          <p:cNvSpPr/>
          <p:nvPr/>
        </p:nvSpPr>
        <p:spPr>
          <a:xfrm>
            <a:off x="6451439" y="1934270"/>
            <a:ext cx="54354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175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SYSTEM OBJECTIVES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1439" y="2228172"/>
            <a:ext cx="5308467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kern="100" spc="-20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What our proposed system aims to deliver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51439" y="2718891"/>
            <a:ext cx="1751762" cy="31651"/>
          </a:xfrm>
          <a:prstGeom prst="roundRect">
            <a:avLst>
              <a:gd name="adj" fmla="val 49998"/>
            </a:avLst>
          </a:prstGeom>
          <a:solidFill>
            <a:srgbClr val="B9C7CF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439" y="2934791"/>
            <a:ext cx="5308467" cy="338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time-stamped dataset of local temperature and humidity readings.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dashboard showing sensor readings and location-based hotspots.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Alerts when configured heat thresholds are exceeded.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Before-and-after comparisons for selected mitigation interventions.</a:t>
            </a:r>
            <a:endParaRPr lang="en-US" sz="1750" dirty="0"/>
          </a:p>
          <a:p>
            <a:pPr marL="355600" indent="-355600" algn="l">
              <a:lnSpc>
                <a:spcPct val="11800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Evidence to help planners prioritise locations for further investigation.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F017FF-D734-468B-8AE2-56E386EB8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263588"/>
            <a:ext cx="1280271" cy="5944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492654"/>
            <a:ext cx="6344781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160" dirty="0">
                <a:solidFill>
                  <a:srgbClr val="2D9F99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04792" y="923653"/>
            <a:ext cx="6039989" cy="864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50" kern="100" spc="-87" dirty="0">
                <a:solidFill>
                  <a:srgbClr val="EDEFE8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Future scope and remaining challenges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304792" y="2136274"/>
            <a:ext cx="6687679" cy="4247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buSzPct val="100000"/>
              <a:buChar char="•"/>
            </a:pPr>
            <a:r>
              <a:rPr lang="en-US" sz="160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Predictive heat alerts:</a:t>
            </a:r>
            <a:r>
              <a:rPr lang="en-US" sz="16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Add a forecasting model after collecting enough reliable historical sensor data.</a:t>
            </a:r>
            <a:endParaRPr lang="en-US" sz="1600" dirty="0"/>
          </a:p>
          <a:p>
            <a:pPr marL="325120" indent="-325120" algn="l">
              <a:buSzPct val="100000"/>
              <a:buChar char="•"/>
            </a:pPr>
            <a:r>
              <a:rPr lang="en-US" sz="160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Satellite–IoT integration:</a:t>
            </a:r>
            <a:r>
              <a:rPr lang="en-US" sz="16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Combine large-area heat maps with continuous measurements at selected sites.</a:t>
            </a:r>
            <a:endParaRPr lang="en-US" sz="1600" dirty="0"/>
          </a:p>
          <a:p>
            <a:pPr marL="325120" indent="-325120" algn="l">
              <a:buSzPct val="100000"/>
              <a:buChar char="•"/>
            </a:pPr>
            <a:r>
              <a:rPr lang="en-US" sz="160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Heat-vulnerability mapping:</a:t>
            </a:r>
            <a:r>
              <a:rPr lang="en-US" sz="16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Incorporate population characteristics and access to cooling resources using suitable, privacy-conscious data.</a:t>
            </a:r>
            <a:endParaRPr lang="en-US" sz="1600" dirty="0"/>
          </a:p>
          <a:p>
            <a:pPr marL="325120" indent="-325120" algn="l">
              <a:buSzPct val="100000"/>
              <a:buChar char="•"/>
            </a:pPr>
            <a:r>
              <a:rPr lang="en-US" sz="160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Adaptive mitigation:</a:t>
            </a:r>
            <a:r>
              <a:rPr lang="en-US" sz="16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Test whether irrigation schedules or other interventions should change in response to local measurements.</a:t>
            </a:r>
            <a:endParaRPr lang="en-US" sz="1600" dirty="0"/>
          </a:p>
          <a:p>
            <a:pPr marL="325120" indent="-325120" algn="l">
              <a:buSzPct val="100000"/>
              <a:buChar char="•"/>
            </a:pPr>
            <a:r>
              <a:rPr lang="en-US" sz="160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Climate-context analysis:</a:t>
            </a:r>
            <a:r>
              <a:rPr lang="en-US" sz="16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Investigate whether heat patterns differ during El Niño and neutral periods using a longer, appropriately controlled dataset.</a:t>
            </a:r>
            <a:endParaRPr lang="en-US" sz="1600" dirty="0"/>
          </a:p>
          <a:p>
            <a:pPr marL="325120" indent="-325120" algn="l">
              <a:buSzPct val="100000"/>
              <a:buChar char="•"/>
            </a:pPr>
            <a:r>
              <a:rPr lang="en-US" sz="160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Expansion to more locations:</a:t>
            </a:r>
            <a:r>
              <a:rPr lang="en-US" sz="16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Test different urban layouts, seasons, and climates before generalising results.</a:t>
            </a:r>
            <a:endParaRPr lang="en-US" sz="1600" dirty="0"/>
          </a:p>
          <a:p>
            <a:pPr marL="325120" indent="-325120" algn="l">
              <a:buSzPct val="100000"/>
              <a:buChar char="•"/>
            </a:pPr>
            <a:r>
              <a:rPr lang="en-US" sz="1600" b="1" dirty="0">
                <a:solidFill>
                  <a:srgbClr val="EDEFE8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Real-world validation:</a:t>
            </a:r>
            <a:r>
              <a:rPr lang="en-US" sz="1600" dirty="0">
                <a:solidFill>
                  <a:srgbClr val="EDEFE8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Compare the system against calibrated instruments and assess cost, connectivity, maintenance, and data quality.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0E5F4F-4E1B-49EC-9B49-EAAA6DDED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424" y="6204148"/>
            <a:ext cx="1280271" cy="594412"/>
          </a:xfrm>
          <a:prstGeom prst="rect">
            <a:avLst/>
          </a:prstGeom>
        </p:spPr>
      </p:pic>
      <p:sp>
        <p:nvSpPr>
          <p:cNvPr id="5" name="AutoShape 10" descr="Generated image 2">
            <a:extLst>
              <a:ext uri="{FF2B5EF4-FFF2-40B4-BE49-F238E27FC236}">
                <a16:creationId xmlns:a16="http://schemas.microsoft.com/office/drawing/2014/main" id="{53E3C57C-DE34-4AE5-ABBA-51DAFA3FE4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EB0B8-929E-4071-B723-355720E0F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164" y="1015253"/>
            <a:ext cx="4776395" cy="45226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6" name="Text 4"/>
          <p:cNvSpPr/>
          <p:nvPr/>
        </p:nvSpPr>
        <p:spPr>
          <a:xfrm>
            <a:off x="6910927" y="285867"/>
            <a:ext cx="4805639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160" dirty="0">
                <a:solidFill>
                  <a:srgbClr val="60D2CC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SYNTHESIS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10927" y="550583"/>
            <a:ext cx="4526246" cy="432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50" kern="100" spc="-87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Conclusion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6714565" y="1073051"/>
            <a:ext cx="5197737" cy="455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12 reviewed papers show that UHI is studied using remote sensing, climate modelling, environmental sensors, forecasting, vulnerability assessment, and mitigation simulations.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findings indicate that urban form, vegetation, surface characteristics, and location influence heat patterns.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key opportunity is to connect heat measurement with continuous monitoring, risk interpretation, and evaluation of real mitigation actions.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proposed IoT-based system aims to support better heat awareness and evidence-based decisions, rather than claim to eliminate UHI.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0217" y="5486400"/>
            <a:ext cx="4332085" cy="110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“From mapping urban heat to monitoring it continuously and evaluating what actually cools our cities.”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55594" y="5486400"/>
            <a:ext cx="28574" cy="860326"/>
          </a:xfrm>
          <a:prstGeom prst="roundRect">
            <a:avLst>
              <a:gd name="adj" fmla="val 50000"/>
            </a:avLst>
          </a:prstGeom>
          <a:solidFill>
            <a:srgbClr val="1F6E6A"/>
          </a:solidFill>
          <a:ln/>
        </p:spPr>
      </p:sp>
      <p:pic>
        <p:nvPicPr>
          <p:cNvPr id="3074" name="Picture 2" descr="How Cities Can Combat Extreme Heat Using Nature-Based Solutions |  Development Asia">
            <a:extLst>
              <a:ext uri="{FF2B5EF4-FFF2-40B4-BE49-F238E27FC236}">
                <a16:creationId xmlns:a16="http://schemas.microsoft.com/office/drawing/2014/main" id="{950751D5-D5B7-495A-9DF5-C8FB1C6A7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" r="1211"/>
          <a:stretch/>
        </p:blipFill>
        <p:spPr bwMode="auto">
          <a:xfrm>
            <a:off x="135302" y="1156447"/>
            <a:ext cx="6299870" cy="499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7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1539</Words>
  <Application>Microsoft Office PowerPoint</Application>
  <PresentationFormat>Widescreen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Red Hat Text Medium</vt:lpstr>
      <vt:lpstr>Red Hat Text Bold</vt:lpstr>
      <vt:lpstr>Noto Serif Display</vt:lpstr>
      <vt:lpstr>Red Hat Text SemiBold</vt:lpstr>
      <vt:lpstr>Red Hat Text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Samruddhi Chavan</dc:creator>
  <cp:lastModifiedBy>Samruddhi Chavan</cp:lastModifiedBy>
  <cp:revision>9</cp:revision>
  <dcterms:created xsi:type="dcterms:W3CDTF">2026-10-17T14:04:37Z</dcterms:created>
  <dcterms:modified xsi:type="dcterms:W3CDTF">2026-10-17T18:15:41Z</dcterms:modified>
</cp:coreProperties>
</file>